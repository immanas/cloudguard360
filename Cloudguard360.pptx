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F515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97B7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34966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FFF8F5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CloudGuard360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295334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656409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Multi-Cloud Monitoring, Analytics &amp; Cost Optimization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70523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32328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 360° view of your cloud environment.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304240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i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—Presented By Cosmic Coder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0819" y="754737"/>
            <a:ext cx="9148763" cy="543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FFF8F5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Problem Statement: Common Pain Points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243" y="1907858"/>
            <a:ext cx="6618923" cy="1565553"/>
          </a:xfrm>
          <a:prstGeom prst="roundRect">
            <a:avLst>
              <a:gd name="adj" fmla="val 7009"/>
            </a:avLst>
          </a:prstGeom>
          <a:solidFill>
            <a:srgbClr val="403234"/>
          </a:solidFill>
          <a:ln/>
        </p:spPr>
      </p:sp>
      <p:sp>
        <p:nvSpPr>
          <p:cNvPr id="4" name="Shape 2"/>
          <p:cNvSpPr/>
          <p:nvPr/>
        </p:nvSpPr>
        <p:spPr>
          <a:xfrm>
            <a:off x="609243" y="1884997"/>
            <a:ext cx="6618923" cy="91440"/>
          </a:xfrm>
          <a:prstGeom prst="roundRect">
            <a:avLst>
              <a:gd name="adj" fmla="val 28556"/>
            </a:avLst>
          </a:prstGeom>
          <a:solidFill>
            <a:srgbClr val="E2C2B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1646753"/>
            <a:ext cx="522208" cy="522208"/>
          </a:xfrm>
          <a:prstGeom prst="roundRect">
            <a:avLst>
              <a:gd name="adj" fmla="val 175103"/>
            </a:avLst>
          </a:prstGeom>
          <a:solidFill>
            <a:srgbClr val="E2C2B3"/>
          </a:solidFill>
          <a:ln/>
        </p:spPr>
      </p:sp>
      <p:sp>
        <p:nvSpPr>
          <p:cNvPr id="6" name="Text 4"/>
          <p:cNvSpPr/>
          <p:nvPr/>
        </p:nvSpPr>
        <p:spPr>
          <a:xfrm>
            <a:off x="3814286" y="1777246"/>
            <a:ext cx="208836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22483" y="2343031"/>
            <a:ext cx="2392442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D3C9C5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Fragmented Visibility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6172" y="2719507"/>
            <a:ext cx="6225064" cy="55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Companies often use AWS, GCP (and sometimes Azure), but monitoring resources across all platforms is manual and fragmented.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402235" y="1907858"/>
            <a:ext cx="6618923" cy="1565553"/>
          </a:xfrm>
          <a:prstGeom prst="roundRect">
            <a:avLst>
              <a:gd name="adj" fmla="val 7009"/>
            </a:avLst>
          </a:prstGeom>
          <a:solidFill>
            <a:srgbClr val="403234"/>
          </a:solidFill>
          <a:ln/>
        </p:spPr>
      </p:sp>
      <p:sp>
        <p:nvSpPr>
          <p:cNvPr id="10" name="Shape 8"/>
          <p:cNvSpPr/>
          <p:nvPr/>
        </p:nvSpPr>
        <p:spPr>
          <a:xfrm>
            <a:off x="7402235" y="1884997"/>
            <a:ext cx="6618923" cy="91440"/>
          </a:xfrm>
          <a:prstGeom prst="roundRect">
            <a:avLst>
              <a:gd name="adj" fmla="val 28556"/>
            </a:avLst>
          </a:prstGeom>
          <a:solidFill>
            <a:srgbClr val="E2C2B3"/>
          </a:solidFill>
          <a:ln/>
        </p:spPr>
      </p:sp>
      <p:sp>
        <p:nvSpPr>
          <p:cNvPr id="11" name="Shape 9"/>
          <p:cNvSpPr/>
          <p:nvPr/>
        </p:nvSpPr>
        <p:spPr>
          <a:xfrm>
            <a:off x="10450592" y="1646753"/>
            <a:ext cx="522208" cy="522208"/>
          </a:xfrm>
          <a:prstGeom prst="roundRect">
            <a:avLst>
              <a:gd name="adj" fmla="val 175103"/>
            </a:avLst>
          </a:prstGeom>
          <a:solidFill>
            <a:srgbClr val="E2C2B3"/>
          </a:solidFill>
          <a:ln/>
        </p:spPr>
      </p:sp>
      <p:sp>
        <p:nvSpPr>
          <p:cNvPr id="12" name="Text 10"/>
          <p:cNvSpPr/>
          <p:nvPr/>
        </p:nvSpPr>
        <p:spPr>
          <a:xfrm>
            <a:off x="10607278" y="1777246"/>
            <a:ext cx="208836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6082" y="2343031"/>
            <a:ext cx="2211229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D3C9C5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Soaring Cloud Costs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99164" y="2719507"/>
            <a:ext cx="6225064" cy="55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Over-provisioned or idle resources cause unnecessary spending. Teams struggle to forecast and optimize costs.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9243" y="3908584"/>
            <a:ext cx="6618923" cy="1565553"/>
          </a:xfrm>
          <a:prstGeom prst="roundRect">
            <a:avLst>
              <a:gd name="adj" fmla="val 7009"/>
            </a:avLst>
          </a:prstGeom>
          <a:solidFill>
            <a:srgbClr val="4032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243" y="3885724"/>
            <a:ext cx="6618923" cy="91440"/>
          </a:xfrm>
          <a:prstGeom prst="roundRect">
            <a:avLst>
              <a:gd name="adj" fmla="val 28556"/>
            </a:avLst>
          </a:prstGeom>
          <a:solidFill>
            <a:srgbClr val="E2C2B3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0" y="3647480"/>
            <a:ext cx="522208" cy="522208"/>
          </a:xfrm>
          <a:prstGeom prst="roundRect">
            <a:avLst>
              <a:gd name="adj" fmla="val 175103"/>
            </a:avLst>
          </a:prstGeom>
          <a:solidFill>
            <a:srgbClr val="E2C2B3"/>
          </a:solidFill>
          <a:ln/>
        </p:spPr>
      </p:sp>
      <p:sp>
        <p:nvSpPr>
          <p:cNvPr id="18" name="Text 16"/>
          <p:cNvSpPr/>
          <p:nvPr/>
        </p:nvSpPr>
        <p:spPr>
          <a:xfrm>
            <a:off x="3814286" y="3777972"/>
            <a:ext cx="208836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30711" y="4343757"/>
            <a:ext cx="2175867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D3C9C5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Security Gaps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06172" y="4720233"/>
            <a:ext cx="6225064" cy="55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Misconfigurations, exposed buckets, and insecure IAM roles are hard to track, leaving vulnerabilities open across platforms.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402235" y="3908584"/>
            <a:ext cx="6618923" cy="1565553"/>
          </a:xfrm>
          <a:prstGeom prst="roundRect">
            <a:avLst>
              <a:gd name="adj" fmla="val 7009"/>
            </a:avLst>
          </a:prstGeom>
          <a:solidFill>
            <a:srgbClr val="403234"/>
          </a:solidFill>
          <a:ln/>
        </p:spPr>
      </p:sp>
      <p:sp>
        <p:nvSpPr>
          <p:cNvPr id="22" name="Shape 20"/>
          <p:cNvSpPr/>
          <p:nvPr/>
        </p:nvSpPr>
        <p:spPr>
          <a:xfrm>
            <a:off x="7402235" y="3885724"/>
            <a:ext cx="6618923" cy="91440"/>
          </a:xfrm>
          <a:prstGeom prst="roundRect">
            <a:avLst>
              <a:gd name="adj" fmla="val 28556"/>
            </a:avLst>
          </a:prstGeom>
          <a:solidFill>
            <a:srgbClr val="E2C2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50592" y="3647480"/>
            <a:ext cx="522208" cy="522208"/>
          </a:xfrm>
          <a:prstGeom prst="roundRect">
            <a:avLst>
              <a:gd name="adj" fmla="val 175103"/>
            </a:avLst>
          </a:prstGeom>
          <a:solidFill>
            <a:srgbClr val="E2C2B3"/>
          </a:solidFill>
          <a:ln/>
        </p:spPr>
      </p:sp>
      <p:sp>
        <p:nvSpPr>
          <p:cNvPr id="24" name="Text 22"/>
          <p:cNvSpPr/>
          <p:nvPr/>
        </p:nvSpPr>
        <p:spPr>
          <a:xfrm>
            <a:off x="10607278" y="3777972"/>
            <a:ext cx="208836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23703" y="4343757"/>
            <a:ext cx="2175867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D3C9C5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Data Overload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599164" y="4720233"/>
            <a:ext cx="6225064" cy="55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Teams waste hours manually analyzing logs and metrics, delaying critical decisions and insights.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09243" y="5909310"/>
            <a:ext cx="6618923" cy="1565553"/>
          </a:xfrm>
          <a:prstGeom prst="roundRect">
            <a:avLst>
              <a:gd name="adj" fmla="val 7009"/>
            </a:avLst>
          </a:prstGeom>
          <a:solidFill>
            <a:srgbClr val="403234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243" y="5886450"/>
            <a:ext cx="6618923" cy="91440"/>
          </a:xfrm>
          <a:prstGeom prst="roundRect">
            <a:avLst>
              <a:gd name="adj" fmla="val 28556"/>
            </a:avLst>
          </a:prstGeom>
          <a:solidFill>
            <a:srgbClr val="E2C2B3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0" y="5648206"/>
            <a:ext cx="522208" cy="522208"/>
          </a:xfrm>
          <a:prstGeom prst="roundRect">
            <a:avLst>
              <a:gd name="adj" fmla="val 175103"/>
            </a:avLst>
          </a:prstGeom>
          <a:solidFill>
            <a:srgbClr val="E2C2B3"/>
          </a:solidFill>
          <a:ln/>
        </p:spPr>
      </p:sp>
      <p:sp>
        <p:nvSpPr>
          <p:cNvPr id="30" name="Text 28"/>
          <p:cNvSpPr/>
          <p:nvPr/>
        </p:nvSpPr>
        <p:spPr>
          <a:xfrm>
            <a:off x="3814286" y="5778698"/>
            <a:ext cx="208836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646521" y="6344483"/>
            <a:ext cx="2544247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D3C9C5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Inaccurate Forecasting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06172" y="6720959"/>
            <a:ext cx="6225064" cy="55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Predicting future cloud usage and costs is complex without proper analytics, leading to over/under-provisioning.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402235" y="5909310"/>
            <a:ext cx="6618923" cy="1565553"/>
          </a:xfrm>
          <a:prstGeom prst="roundRect">
            <a:avLst>
              <a:gd name="adj" fmla="val 7009"/>
            </a:avLst>
          </a:prstGeom>
          <a:solidFill>
            <a:srgbClr val="403234"/>
          </a:solidFill>
          <a:ln/>
        </p:spPr>
      </p:sp>
      <p:sp>
        <p:nvSpPr>
          <p:cNvPr id="34" name="Shape 32"/>
          <p:cNvSpPr/>
          <p:nvPr/>
        </p:nvSpPr>
        <p:spPr>
          <a:xfrm>
            <a:off x="7402235" y="5886450"/>
            <a:ext cx="6618923" cy="91440"/>
          </a:xfrm>
          <a:prstGeom prst="roundRect">
            <a:avLst>
              <a:gd name="adj" fmla="val 28556"/>
            </a:avLst>
          </a:prstGeom>
          <a:solidFill>
            <a:srgbClr val="E2C2B3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50592" y="5648206"/>
            <a:ext cx="522208" cy="522208"/>
          </a:xfrm>
          <a:prstGeom prst="roundRect">
            <a:avLst>
              <a:gd name="adj" fmla="val 175103"/>
            </a:avLst>
          </a:prstGeom>
          <a:solidFill>
            <a:srgbClr val="E2C2B3"/>
          </a:solidFill>
          <a:ln/>
        </p:spPr>
      </p:sp>
      <p:sp>
        <p:nvSpPr>
          <p:cNvPr id="36" name="Text 34"/>
          <p:cNvSpPr/>
          <p:nvPr/>
        </p:nvSpPr>
        <p:spPr>
          <a:xfrm>
            <a:off x="10607278" y="5778698"/>
            <a:ext cx="208836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367123" y="6344483"/>
            <a:ext cx="2689146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D3C9C5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Slow Anomaly Response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7599164" y="6720959"/>
            <a:ext cx="6225064" cy="55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Delayed alerts for overspending, idle resources, or security risks mean missed opportunities for intervention and increased exposure.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76712" y="459581"/>
            <a:ext cx="6276975" cy="522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FFF8F5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CloudGuard360: Our Solution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84954" y="1316117"/>
            <a:ext cx="4375428" cy="1950958"/>
          </a:xfrm>
          <a:prstGeom prst="roundRect">
            <a:avLst>
              <a:gd name="adj" fmla="val 1285"/>
            </a:avLst>
          </a:prstGeom>
          <a:solidFill>
            <a:srgbClr val="5F5153"/>
          </a:solidFill>
          <a:ln/>
        </p:spPr>
      </p:sp>
      <p:sp>
        <p:nvSpPr>
          <p:cNvPr id="4" name="Shape 2"/>
          <p:cNvSpPr/>
          <p:nvPr/>
        </p:nvSpPr>
        <p:spPr>
          <a:xfrm>
            <a:off x="751999" y="1483162"/>
            <a:ext cx="501372" cy="501372"/>
          </a:xfrm>
          <a:prstGeom prst="roundRect">
            <a:avLst>
              <a:gd name="adj" fmla="val 18236131"/>
            </a:avLst>
          </a:prstGeom>
          <a:solidFill>
            <a:srgbClr val="E2C2B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873" y="1592818"/>
            <a:ext cx="225623" cy="2820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999" y="2151578"/>
            <a:ext cx="2507218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Unified Dashboard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751999" y="2565202"/>
            <a:ext cx="4041338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 single pane of glass for all AWS &amp; GCP resources, usage, and costs.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127427" y="1316117"/>
            <a:ext cx="4375428" cy="1950958"/>
          </a:xfrm>
          <a:prstGeom prst="roundRect">
            <a:avLst>
              <a:gd name="adj" fmla="val 1285"/>
            </a:avLst>
          </a:prstGeom>
          <a:solidFill>
            <a:srgbClr val="5F5153"/>
          </a:solidFill>
          <a:ln/>
        </p:spPr>
      </p:sp>
      <p:sp>
        <p:nvSpPr>
          <p:cNvPr id="9" name="Shape 6"/>
          <p:cNvSpPr/>
          <p:nvPr/>
        </p:nvSpPr>
        <p:spPr>
          <a:xfrm>
            <a:off x="5294471" y="1483162"/>
            <a:ext cx="501372" cy="501372"/>
          </a:xfrm>
          <a:prstGeom prst="roundRect">
            <a:avLst>
              <a:gd name="adj" fmla="val 18236131"/>
            </a:avLst>
          </a:prstGeom>
          <a:solidFill>
            <a:srgbClr val="E2C2B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346" y="1592818"/>
            <a:ext cx="225623" cy="2820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94471" y="2151578"/>
            <a:ext cx="2507218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Cost Optimization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5294471" y="2565202"/>
            <a:ext cx="4041338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Analyzes usage, forecasts trends, identifies idle resources, and recommends savings.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9669899" y="1316117"/>
            <a:ext cx="4375428" cy="1950958"/>
          </a:xfrm>
          <a:prstGeom prst="roundRect">
            <a:avLst>
              <a:gd name="adj" fmla="val 1285"/>
            </a:avLst>
          </a:prstGeom>
          <a:solidFill>
            <a:srgbClr val="5F5153"/>
          </a:solidFill>
          <a:ln/>
        </p:spPr>
      </p:sp>
      <p:sp>
        <p:nvSpPr>
          <p:cNvPr id="14" name="Shape 10"/>
          <p:cNvSpPr/>
          <p:nvPr/>
        </p:nvSpPr>
        <p:spPr>
          <a:xfrm>
            <a:off x="9836944" y="1483162"/>
            <a:ext cx="501372" cy="501372"/>
          </a:xfrm>
          <a:prstGeom prst="roundRect">
            <a:avLst>
              <a:gd name="adj" fmla="val 18236131"/>
            </a:avLst>
          </a:prstGeom>
          <a:solidFill>
            <a:srgbClr val="E2C2B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4818" y="1592818"/>
            <a:ext cx="225623" cy="28205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36944" y="2151578"/>
            <a:ext cx="253067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Automated Security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836944" y="2565202"/>
            <a:ext cx="4041338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Scans for misconfigurations (e.g., public S3 buckets, IAM issues) and alerts instantly.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84954" y="3434120"/>
            <a:ext cx="4375428" cy="1950958"/>
          </a:xfrm>
          <a:prstGeom prst="roundRect">
            <a:avLst>
              <a:gd name="adj" fmla="val 1285"/>
            </a:avLst>
          </a:prstGeom>
          <a:solidFill>
            <a:srgbClr val="5F5153"/>
          </a:solidFill>
          <a:ln/>
        </p:spPr>
      </p:sp>
      <p:sp>
        <p:nvSpPr>
          <p:cNvPr id="19" name="Shape 14"/>
          <p:cNvSpPr/>
          <p:nvPr/>
        </p:nvSpPr>
        <p:spPr>
          <a:xfrm>
            <a:off x="751999" y="3601164"/>
            <a:ext cx="501372" cy="501372"/>
          </a:xfrm>
          <a:prstGeom prst="roundRect">
            <a:avLst>
              <a:gd name="adj" fmla="val 18236131"/>
            </a:avLst>
          </a:prstGeom>
          <a:solidFill>
            <a:srgbClr val="E2C2B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873" y="3710821"/>
            <a:ext cx="225623" cy="28205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1999" y="4269581"/>
            <a:ext cx="2507218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Real-time Analytics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751999" y="4683204"/>
            <a:ext cx="4041338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Automates data collection (serverless Lambdas) and processes insights for instant display.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127427" y="3434120"/>
            <a:ext cx="4375428" cy="1950958"/>
          </a:xfrm>
          <a:prstGeom prst="roundRect">
            <a:avLst>
              <a:gd name="adj" fmla="val 1285"/>
            </a:avLst>
          </a:prstGeom>
          <a:solidFill>
            <a:srgbClr val="5F5153"/>
          </a:solidFill>
          <a:ln/>
        </p:spPr>
      </p:sp>
      <p:sp>
        <p:nvSpPr>
          <p:cNvPr id="24" name="Shape 18"/>
          <p:cNvSpPr/>
          <p:nvPr/>
        </p:nvSpPr>
        <p:spPr>
          <a:xfrm>
            <a:off x="5294471" y="3601164"/>
            <a:ext cx="501372" cy="501372"/>
          </a:xfrm>
          <a:prstGeom prst="roundRect">
            <a:avLst>
              <a:gd name="adj" fmla="val 18236131"/>
            </a:avLst>
          </a:prstGeom>
          <a:solidFill>
            <a:srgbClr val="E2C2B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2346" y="3710821"/>
            <a:ext cx="225623" cy="28205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94471" y="4269581"/>
            <a:ext cx="3156704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ML-Powered Forecasting</a:t>
            </a:r>
            <a:endParaRPr lang="en-US" sz="1950" dirty="0"/>
          </a:p>
        </p:txBody>
      </p:sp>
      <p:sp>
        <p:nvSpPr>
          <p:cNvPr id="27" name="Text 20"/>
          <p:cNvSpPr/>
          <p:nvPr/>
        </p:nvSpPr>
        <p:spPr>
          <a:xfrm>
            <a:off x="5294471" y="4683204"/>
            <a:ext cx="4041338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Predicts usage trends, future costs, and resource needs using Python &amp; Scikit-learn.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9669899" y="3434120"/>
            <a:ext cx="4375428" cy="1950958"/>
          </a:xfrm>
          <a:prstGeom prst="roundRect">
            <a:avLst>
              <a:gd name="adj" fmla="val 1285"/>
            </a:avLst>
          </a:prstGeom>
          <a:solidFill>
            <a:srgbClr val="5F5153"/>
          </a:solidFill>
          <a:ln/>
        </p:spPr>
      </p:sp>
      <p:sp>
        <p:nvSpPr>
          <p:cNvPr id="29" name="Shape 22"/>
          <p:cNvSpPr/>
          <p:nvPr/>
        </p:nvSpPr>
        <p:spPr>
          <a:xfrm>
            <a:off x="9836944" y="3601164"/>
            <a:ext cx="501372" cy="501372"/>
          </a:xfrm>
          <a:prstGeom prst="roundRect">
            <a:avLst>
              <a:gd name="adj" fmla="val 18236131"/>
            </a:avLst>
          </a:prstGeom>
          <a:solidFill>
            <a:srgbClr val="E2C2B3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4818" y="3710821"/>
            <a:ext cx="225623" cy="28205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836944" y="4269581"/>
            <a:ext cx="2507218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Automated Alerts</a:t>
            </a:r>
            <a:endParaRPr lang="en-US" sz="1950" dirty="0"/>
          </a:p>
        </p:txBody>
      </p:sp>
      <p:sp>
        <p:nvSpPr>
          <p:cNvPr id="32" name="Text 24"/>
          <p:cNvSpPr/>
          <p:nvPr/>
        </p:nvSpPr>
        <p:spPr>
          <a:xfrm>
            <a:off x="9836944" y="4683204"/>
            <a:ext cx="4041338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Instant notifications (CloudWatch + Lambda) for anomalies, overspending, or security risks.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584954" y="5552123"/>
            <a:ext cx="6646664" cy="2218373"/>
          </a:xfrm>
          <a:prstGeom prst="roundRect">
            <a:avLst>
              <a:gd name="adj" fmla="val 1130"/>
            </a:avLst>
          </a:prstGeom>
          <a:solidFill>
            <a:srgbClr val="5F5153"/>
          </a:solidFill>
          <a:ln/>
        </p:spPr>
      </p:sp>
      <p:sp>
        <p:nvSpPr>
          <p:cNvPr id="34" name="Shape 26"/>
          <p:cNvSpPr/>
          <p:nvPr/>
        </p:nvSpPr>
        <p:spPr>
          <a:xfrm>
            <a:off x="751999" y="5719167"/>
            <a:ext cx="501372" cy="501372"/>
          </a:xfrm>
          <a:prstGeom prst="roundRect">
            <a:avLst>
              <a:gd name="adj" fmla="val 18236131"/>
            </a:avLst>
          </a:prstGeom>
          <a:solidFill>
            <a:srgbClr val="E2C2B3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873" y="5828824"/>
            <a:ext cx="225623" cy="282059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51999" y="6387584"/>
            <a:ext cx="2507218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IaC Deployment</a:t>
            </a:r>
            <a:endParaRPr lang="en-US" sz="1950" dirty="0"/>
          </a:p>
        </p:txBody>
      </p:sp>
      <p:sp>
        <p:nvSpPr>
          <p:cNvPr id="37" name="Text 28"/>
          <p:cNvSpPr/>
          <p:nvPr/>
        </p:nvSpPr>
        <p:spPr>
          <a:xfrm>
            <a:off x="751999" y="6801207"/>
            <a:ext cx="6312575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Easy, consistent, and scalable deployment with Terraform.</a:t>
            </a:r>
            <a:endParaRPr lang="en-US" sz="1300" dirty="0"/>
          </a:p>
        </p:txBody>
      </p:sp>
      <p:sp>
        <p:nvSpPr>
          <p:cNvPr id="38" name="Shape 29"/>
          <p:cNvSpPr/>
          <p:nvPr/>
        </p:nvSpPr>
        <p:spPr>
          <a:xfrm>
            <a:off x="7398663" y="5552123"/>
            <a:ext cx="6646664" cy="2218373"/>
          </a:xfrm>
          <a:prstGeom prst="roundRect">
            <a:avLst>
              <a:gd name="adj" fmla="val 1130"/>
            </a:avLst>
          </a:prstGeom>
          <a:solidFill>
            <a:srgbClr val="5F5153"/>
          </a:solidFill>
          <a:ln/>
        </p:spPr>
      </p:sp>
      <p:sp>
        <p:nvSpPr>
          <p:cNvPr id="39" name="Shape 30"/>
          <p:cNvSpPr/>
          <p:nvPr/>
        </p:nvSpPr>
        <p:spPr>
          <a:xfrm>
            <a:off x="7565708" y="5719167"/>
            <a:ext cx="501372" cy="501372"/>
          </a:xfrm>
          <a:prstGeom prst="roundRect">
            <a:avLst>
              <a:gd name="adj" fmla="val 18236131"/>
            </a:avLst>
          </a:prstGeom>
          <a:solidFill>
            <a:srgbClr val="E2C2B3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3582" y="5828824"/>
            <a:ext cx="225623" cy="282059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565708" y="6387584"/>
            <a:ext cx="4842391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Compliance &amp; Governance Challenges</a:t>
            </a:r>
            <a:endParaRPr lang="en-US" sz="1950" dirty="0"/>
          </a:p>
        </p:txBody>
      </p:sp>
      <p:sp>
        <p:nvSpPr>
          <p:cNvPr id="42" name="Text 32"/>
          <p:cNvSpPr/>
          <p:nvPr/>
        </p:nvSpPr>
        <p:spPr>
          <a:xfrm>
            <a:off x="7565708" y="6801207"/>
            <a:ext cx="6312575" cy="80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Ensures cloud resources meet regulatory and internal policies by </a:t>
            </a:r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automatically monitoring compliance standards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, generating reports, and flagging violations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90229" y="548402"/>
            <a:ext cx="5249942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Innovation &amp; Impact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7944" y="1670209"/>
            <a:ext cx="2751653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Multi-Cloud Coverage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97944" y="2181225"/>
            <a:ext cx="637401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Unified monitoring and analytics across both AWS and GCP, providing a truly holistic view.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7944" y="3018830"/>
            <a:ext cx="2688908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Serverless &amp; Scalable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97944" y="3529846"/>
            <a:ext cx="637401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Leverages AWS Lambda for a fully serverless backend, ensuring auto-scaling and reduced infra costs.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97944" y="4367451"/>
            <a:ext cx="2939296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Automated Forecasting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97944" y="4878467"/>
            <a:ext cx="637401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Utilizes Python + ML (Scikit-learn) for proactive usage, cost, and trend forecasting, moving beyond reactive management.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97944" y="5716072"/>
            <a:ext cx="2493050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Real-Time Insights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97944" y="6227088"/>
            <a:ext cx="637401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Visual dashboards with dynamic charts, tables, and summary cards deliver actionable data instantly.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6065" y="1670209"/>
            <a:ext cx="2898458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Security &amp; Compliance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566065" y="2181225"/>
            <a:ext cx="6374011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Detects misconfigurations, public buckets, and IAM issues, triggering immediate alerts to bolster your cloud security posture.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66065" y="3337917"/>
            <a:ext cx="3600926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Infrastructure-as-Code (IaC)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566065" y="3848933"/>
            <a:ext cx="637401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Fully deployed via Terraform, enabling fast, repeatable, and reliable setup in any environment.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66065" y="4686538"/>
            <a:ext cx="3786068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Cost &amp; Resource Optimization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566065" y="5197554"/>
            <a:ext cx="637401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Identifies idle/underused resources and provides predictive insights crucial for accurate budget planning.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566065" y="6035159"/>
            <a:ext cx="2493050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Tangible Impact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566065" y="6546175"/>
            <a:ext cx="6374011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Saves time and money, minimizes human error, facilitates data-driven decisions, and significantly enhances overall cloud security.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99479" y="611624"/>
            <a:ext cx="9631442" cy="69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FF8F5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Robust Compliance &amp; Governance</a:t>
            </a:r>
            <a:endParaRPr lang="en-US" sz="4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574" y="1894165"/>
            <a:ext cx="4914424" cy="266747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758" y="1894165"/>
            <a:ext cx="7967186" cy="2667476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74" y="4739402"/>
            <a:ext cx="13059251" cy="26674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18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                            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908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                               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839766"/>
            <a:ext cx="81100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-120"/>
              </a:rPr>
              <a:t>                                  Thank You!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488870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50676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12481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2025-08-20T16:18:53Z</dcterms:created>
  <dcterms:modified xsi:type="dcterms:W3CDTF">2025-08-20T16:18:53Z</dcterms:modified>
</cp:coreProperties>
</file>